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</p:sldIdLst>
  <p:sldSz cx="9144000" cy="5143500" type="screen16x9"/>
  <p:notesSz cx="6858000" cy="9144000"/>
  <p:embeddedFontLst>
    <p:embeddedFont>
      <p:font typeface="Urbanist" panose="020B0604020202020204" charset="0"/>
      <p:regular r:id="rId26"/>
      <p:bold r:id="rId27"/>
      <p:italic r:id="rId28"/>
      <p:boldItalic r:id="rId29"/>
    </p:embeddedFont>
    <p:embeddedFont>
      <p:font typeface="Urbanist Medium" panose="020B0604020202020204" charset="0"/>
      <p:regular r:id="rId30"/>
      <p:bold r:id="rId31"/>
      <p:italic r:id="rId32"/>
      <p:boldItalic r:id="rId33"/>
    </p:embeddedFont>
    <p:embeddedFont>
      <p:font typeface="Urbanist SemiBold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6a7cadd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86a7cadd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6a7cadd79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86a7cadd79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92d93bf6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c92d93bf6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92d93bf6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c92d93bf6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92d93bf63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c92d93bf63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c92d93bf63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c92d93bf63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92d93bf6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c92d93bf63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c92d93bf63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c92d93bf63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92d93bf63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92d93bf63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9751184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c9751184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97511849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c97511849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97511849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c97511849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92d93bf63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c92d93bf63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97511849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c97511849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c97511849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c97511849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92d93bf6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c92d93bf63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c962d3af2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c962d3af2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c92d93bf63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c92d93bf63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c962d3af2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c962d3af2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92d93bf63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c92d93bf63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c92d93bf63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c92d93bf63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l="3133" t="16785" r="7834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20;p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4" name="Google Shape;104;p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7" name="Google Shape;107;p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0" name="Google Shape;110;p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3" name="Google Shape;113;p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1" name="Google Shape;141;p1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5" name="Google Shape;145;p1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9" name="Google Shape;149;p1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3" name="Google Shape;153;p1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" name="Google Shape;156;p1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0" t="34" r="25038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2" name="Google Shape;162;p1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74" name="Google Shape;174;p1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Google Shape;208;p1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1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9" name="Google Shape;249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2" name="Google Shape;252;p1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1" name="Google Shape;271;p1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1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1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7" name="Google Shape;297;p1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1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1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28" name="Google Shape;328;p1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1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1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2" name="Google Shape;332;p1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9" name="Google Shape;349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5" name="Google Shape;355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9" name="Google Shape;379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7" name="Google Shape;397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3" name="Google Shape;403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8" name="Google Shape;408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9" name="Google Shape;419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9" name="Google Shape;439;p4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A Blackjack Game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A project by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0" name="Google Shape;440;p41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Triple Threat (Group 3)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1" name="Google Shape;441;p4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College of Dupage</a:t>
            </a:r>
            <a:endParaRPr/>
          </a:p>
        </p:txBody>
      </p:sp>
      <p:sp>
        <p:nvSpPr>
          <p:cNvPr id="442" name="Google Shape;442;p4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2026</a:t>
            </a:r>
            <a:endParaRPr/>
          </a:p>
        </p:txBody>
      </p:sp>
      <p:sp>
        <p:nvSpPr>
          <p:cNvPr id="443" name="Google Shape;443;p41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Hannah Portillo</a:t>
            </a:r>
            <a:endParaRPr/>
          </a:p>
        </p:txBody>
      </p:sp>
      <p:sp>
        <p:nvSpPr>
          <p:cNvPr id="444" name="Google Shape;444;p41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Nathaniel Payne</a:t>
            </a:r>
            <a:endParaRPr/>
          </a:p>
        </p:txBody>
      </p:sp>
      <p:sp>
        <p:nvSpPr>
          <p:cNvPr id="445" name="Google Shape;445;p41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CIS-2790-HY003 / Spring of 2026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41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  <p:sp>
        <p:nvSpPr>
          <p:cNvPr id="447" name="Google Shape;447;p41"/>
          <p:cNvSpPr/>
          <p:nvPr/>
        </p:nvSpPr>
        <p:spPr>
          <a:xfrm>
            <a:off x="3275675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Muhammad Numan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42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4618950" y="3617525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8" name="Google Shape;458;p42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59" name="Google Shape;459;p42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60" name="Google Shape;460;p42"/>
          <p:cNvSpPr txBox="1">
            <a:spLocks noGrp="1"/>
          </p:cNvSpPr>
          <p:nvPr>
            <p:ph type="subTitle" idx="5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61" name="Google Shape;461;p42"/>
          <p:cNvSpPr txBox="1">
            <a:spLocks noGrp="1"/>
          </p:cNvSpPr>
          <p:nvPr>
            <p:ph type="subTitle" idx="6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62" name="Google Shape;462;p42"/>
          <p:cNvSpPr txBox="1">
            <a:spLocks noGrp="1"/>
          </p:cNvSpPr>
          <p:nvPr>
            <p:ph type="subTitle" idx="7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8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64" name="Google Shape;464;p42"/>
          <p:cNvSpPr txBox="1">
            <a:spLocks noGrp="1"/>
          </p:cNvSpPr>
          <p:nvPr>
            <p:ph type="subTitle" idx="9"/>
          </p:nvPr>
        </p:nvSpPr>
        <p:spPr>
          <a:xfrm>
            <a:off x="4744575" y="3770931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65" name="Google Shape;465;p42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Operating Context</a:t>
            </a:r>
            <a:endParaRPr/>
          </a:p>
        </p:txBody>
      </p:sp>
      <p:sp>
        <p:nvSpPr>
          <p:cNvPr id="466" name="Google Shape;466;p42"/>
          <p:cNvSpPr txBox="1">
            <a:spLocks noGrp="1"/>
          </p:cNvSpPr>
          <p:nvPr>
            <p:ph type="subTitle" idx="14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System Features</a:t>
            </a:r>
            <a:endParaRPr/>
          </a:p>
        </p:txBody>
      </p:sp>
      <p:sp>
        <p:nvSpPr>
          <p:cNvPr id="467" name="Google Shape;467;p42"/>
          <p:cNvSpPr txBox="1">
            <a:spLocks noGrp="1"/>
          </p:cNvSpPr>
          <p:nvPr>
            <p:ph type="subTitle" idx="15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Data Requirements</a:t>
            </a:r>
            <a:endParaRPr/>
          </a:p>
        </p:txBody>
      </p:sp>
      <p:sp>
        <p:nvSpPr>
          <p:cNvPr id="468" name="Google Shape;468;p42"/>
          <p:cNvSpPr txBox="1">
            <a:spLocks noGrp="1"/>
          </p:cNvSpPr>
          <p:nvPr>
            <p:ph type="subTitle" idx="16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Interface Requirements</a:t>
            </a:r>
            <a:endParaRPr/>
          </a:p>
        </p:txBody>
      </p:sp>
      <p:sp>
        <p:nvSpPr>
          <p:cNvPr id="469" name="Google Shape;469;p42"/>
          <p:cNvSpPr txBox="1">
            <a:spLocks noGrp="1"/>
          </p:cNvSpPr>
          <p:nvPr>
            <p:ph type="subTitle" idx="17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Quality Attributes</a:t>
            </a:r>
            <a:endParaRPr/>
          </a:p>
        </p:txBody>
      </p:sp>
      <p:sp>
        <p:nvSpPr>
          <p:cNvPr id="470" name="Google Shape;470;p42"/>
          <p:cNvSpPr txBox="1">
            <a:spLocks noGrp="1"/>
          </p:cNvSpPr>
          <p:nvPr>
            <p:ph type="subTitle" idx="18"/>
          </p:nvPr>
        </p:nvSpPr>
        <p:spPr>
          <a:xfrm>
            <a:off x="5067075" y="3770931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Localization and Other requirements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3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Introduction:The Overall Outlook</a:t>
            </a:r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subTitle" idx="1"/>
          </p:nvPr>
        </p:nvSpPr>
        <p:spPr>
          <a:xfrm>
            <a:off x="4300425" y="355800"/>
            <a:ext cx="4615200" cy="4192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The scope of this project is to create a virtual application of the traditional Blackjack card game.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The main purpose is to offer an outlet of entertainment for end users. 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Creating the game digitally allows easy accessibility for end users. Players will not be limited because they do not have access to a casino or a card deck.   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Context</a:t>
            </a:r>
            <a:endParaRPr/>
          </a:p>
        </p:txBody>
      </p:sp>
      <p:sp>
        <p:nvSpPr>
          <p:cNvPr id="482" name="Google Shape;482;p44"/>
          <p:cNvSpPr txBox="1">
            <a:spLocks noGrp="1"/>
          </p:cNvSpPr>
          <p:nvPr>
            <p:ph type="subTitle" idx="1"/>
          </p:nvPr>
        </p:nvSpPr>
        <p:spPr>
          <a:xfrm>
            <a:off x="4308175" y="348050"/>
            <a:ext cx="4607100" cy="41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context of the Blackjack application is that the game will be a standalone desktop application. It will not rely upon networks or external databases. It is not an addition to some other pre-existing software. It will be a new application.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There are three classes for development of the application: The player or end user, the Instructor, and the Tester. The player or end user is the preferred class.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5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Context cont.</a:t>
            </a:r>
            <a:endParaRPr/>
          </a:p>
        </p:txBody>
      </p:sp>
      <p:sp>
        <p:nvSpPr>
          <p:cNvPr id="488" name="Google Shape;488;p45"/>
          <p:cNvSpPr txBox="1">
            <a:spLocks noGrp="1"/>
          </p:cNvSpPr>
          <p:nvPr>
            <p:ph type="subTitle" idx="1"/>
          </p:nvPr>
        </p:nvSpPr>
        <p:spPr>
          <a:xfrm>
            <a:off x="4238550" y="290450"/>
            <a:ext cx="4741200" cy="432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The operating environment for the Blackjack application is as follows: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Hardware needed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Desktop or laptop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Operating system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Windows/macOS/Linux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Programming language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Python (version 3.8 or higher)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Development Environment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Any Python compatible IDE or text editor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GUI Framework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Tkinter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Minimum RAM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4GB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Storage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Minimum of 100 MB of free disk space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Additional Requirements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Installed Python interpreter and required libraries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6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Context cont.</a:t>
            </a:r>
            <a:endParaRPr/>
          </a:p>
        </p:txBody>
      </p:sp>
      <p:sp>
        <p:nvSpPr>
          <p:cNvPr id="494" name="Google Shape;494;p46"/>
          <p:cNvSpPr txBox="1">
            <a:spLocks noGrp="1"/>
          </p:cNvSpPr>
          <p:nvPr>
            <p:ph type="subTitle" idx="1"/>
          </p:nvPr>
        </p:nvSpPr>
        <p:spPr>
          <a:xfrm>
            <a:off x="4277225" y="324850"/>
            <a:ext cx="4578900" cy="4238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Design Constraints: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game will be developed using the Python programming language and GUI will be handled using Tkinter.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project will be completed within the academic schedule set. The project will follow proper documentation requirements and proper coding rules/syntax.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system will be compatible with Python 3.8 or a higher version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game shall not rely on a network to function.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7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Context cont.</a:t>
            </a:r>
            <a:endParaRPr/>
          </a:p>
        </p:txBody>
      </p:sp>
      <p:sp>
        <p:nvSpPr>
          <p:cNvPr id="500" name="Google Shape;500;p47"/>
          <p:cNvSpPr txBox="1">
            <a:spLocks noGrp="1"/>
          </p:cNvSpPr>
          <p:nvPr>
            <p:ph type="subTitle" idx="1"/>
          </p:nvPr>
        </p:nvSpPr>
        <p:spPr>
          <a:xfrm>
            <a:off x="4261750" y="363525"/>
            <a:ext cx="4617600" cy="4089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Assumptions: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Users have a basic understanding of the BLackjack game rules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 compatible Python interpreter is installed on the device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The game application will be mostly used on a personal computer device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Users have basic computer literacy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Dependencies: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Python 3.8 or higher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Required GUI libraries (Tkinter)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Operating system compatibility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Development tools and IDE’s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4296300" cy="3324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Features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Card Randomization</a:t>
            </a:r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subTitle" idx="1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Functional Requirement 1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Player Card Randomization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If a player goes out of the hit/stand parameters, then the system will prompt them to try again. 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If a player chooses to stand, the the system removes them from being in the sequential turn based game routine.</a:t>
            </a:r>
            <a:r>
              <a:rPr lang="en" sz="1400">
                <a:solidFill>
                  <a:schemeClr val="dk2"/>
                </a:solidFill>
              </a:rPr>
              <a:t> 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9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3324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Features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Bets and ROI</a:t>
            </a:r>
            <a:endParaRPr/>
          </a:p>
        </p:txBody>
      </p:sp>
      <p:sp>
        <p:nvSpPr>
          <p:cNvPr id="512" name="Google Shape;512;p49"/>
          <p:cNvSpPr txBox="1">
            <a:spLocks noGrp="1"/>
          </p:cNvSpPr>
          <p:nvPr>
            <p:ph type="subTitle" idx="1"/>
          </p:nvPr>
        </p:nvSpPr>
        <p:spPr>
          <a:xfrm>
            <a:off x="4230825" y="324850"/>
            <a:ext cx="4617600" cy="4161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Functional Requirement 2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Player Bets and ROI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Users can bet an amount of money before beginning their play.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Issues that may occur would be non-valid entry during player bet prompting.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The system would prompt users to ‘try again’ until a valid entry is given.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0"/>
          <p:cNvSpPr txBox="1">
            <a:spLocks noGrp="1"/>
          </p:cNvSpPr>
          <p:nvPr>
            <p:ph type="subTitle" idx="1"/>
          </p:nvPr>
        </p:nvSpPr>
        <p:spPr>
          <a:xfrm>
            <a:off x="4269500" y="379000"/>
            <a:ext cx="4594200" cy="41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 3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Number of players and player name entry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Users are prompted to input the number of players to play as well as their personal player name tag.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system will correspondingly loop through and assign hand values to each player while also prompting if players would like to place a bet.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50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4580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Features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Players and Player Names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1"/>
          <p:cNvSpPr txBox="1">
            <a:spLocks noGrp="1"/>
          </p:cNvSpPr>
          <p:nvPr>
            <p:ph type="subTitle" idx="1"/>
          </p:nvPr>
        </p:nvSpPr>
        <p:spPr>
          <a:xfrm>
            <a:off x="4238550" y="290450"/>
            <a:ext cx="4677000" cy="4234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 4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Hit or Stand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Users will choose to ‘Hit’ or ‘Stand’ depending on how they would like to play their hand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players choose to ‘Hit’ the system will add an extra card to their hand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players choose to ‘Stand’ the system will lock that player’s hand value in place and end the turn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player exceeds the card value of 21 that is considered a bust and that player is out</a:t>
            </a:r>
            <a:endParaRPr/>
          </a:p>
        </p:txBody>
      </p:sp>
      <p:sp>
        <p:nvSpPr>
          <p:cNvPr id="524" name="Google Shape;524;p5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696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Features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 or Stand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2"/>
          <p:cNvSpPr txBox="1">
            <a:spLocks noGrp="1"/>
          </p:cNvSpPr>
          <p:nvPr>
            <p:ph type="subTitle" idx="1"/>
          </p:nvPr>
        </p:nvSpPr>
        <p:spPr>
          <a:xfrm>
            <a:off x="4254025" y="290450"/>
            <a:ext cx="4594500" cy="428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 5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 Again?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Once a game ends, users will prompted to ‘play again?’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user chooses ‘yes’ then a new game will start with the same players from the previous game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user chooses ‘no’ then the program will stop running</a:t>
            </a:r>
            <a:endParaRPr/>
          </a:p>
        </p:txBody>
      </p:sp>
      <p:sp>
        <p:nvSpPr>
          <p:cNvPr id="530" name="Google Shape;530;p52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696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Features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 Again?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3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8784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Requirements </a:t>
            </a:r>
            <a:endParaRPr/>
          </a:p>
        </p:txBody>
      </p:sp>
      <p:sp>
        <p:nvSpPr>
          <p:cNvPr id="536" name="Google Shape;536;p53"/>
          <p:cNvSpPr txBox="1">
            <a:spLocks noGrp="1"/>
          </p:cNvSpPr>
          <p:nvPr>
            <p:ph type="subTitle" idx="1"/>
          </p:nvPr>
        </p:nvSpPr>
        <p:spPr>
          <a:xfrm>
            <a:off x="4261750" y="340325"/>
            <a:ext cx="4594500" cy="427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Logical Data Model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The main data entities in the Blackjack application are as follows: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Player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Dealer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Card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Deck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GameSession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Score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The main relationships are as follows: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 GameSession contains one deck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 player has multiple cards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 dealer has multiple cards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4"/>
          <p:cNvSpPr txBox="1">
            <a:spLocks noGrp="1"/>
          </p:cNvSpPr>
          <p:nvPr>
            <p:ph type="subTitle" idx="1"/>
          </p:nvPr>
        </p:nvSpPr>
        <p:spPr>
          <a:xfrm>
            <a:off x="4223075" y="332575"/>
            <a:ext cx="4640700" cy="4230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Dictionary: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CardValue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Integer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Suit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String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PlayerScore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Integer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DealerScore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Integer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GameResult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String</a:t>
            </a:r>
            <a:endParaRPr/>
          </a:p>
        </p:txBody>
      </p:sp>
      <p:sp>
        <p:nvSpPr>
          <p:cNvPr id="542" name="Google Shape;542;p54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9018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Requirements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system will generate the following reports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game session results and summary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Session stats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Game history logs (optional)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Reports will be displayed on screen (main menu screen option)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Integrity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Data is generated internally during gameplay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No permanent storage is required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Session data is cleared upon exiting the program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System shall prevent invalid score calculations</a:t>
            </a:r>
            <a:endParaRPr/>
          </a:p>
        </p:txBody>
      </p:sp>
      <p:sp>
        <p:nvSpPr>
          <p:cNvPr id="548" name="Google Shape;548;p55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8940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Requirements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6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8706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 Requirements</a:t>
            </a:r>
            <a:endParaRPr/>
          </a:p>
        </p:txBody>
      </p:sp>
      <p:sp>
        <p:nvSpPr>
          <p:cNvPr id="554" name="Google Shape;554;p56"/>
          <p:cNvSpPr txBox="1">
            <a:spLocks noGrp="1"/>
          </p:cNvSpPr>
          <p:nvPr>
            <p:ph type="subTitle" idx="1"/>
          </p:nvPr>
        </p:nvSpPr>
        <p:spPr>
          <a:xfrm>
            <a:off x="4238550" y="355800"/>
            <a:ext cx="4563300" cy="4223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User Interface: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Main menu screen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Game screen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Control buttons (Hit, Stand, New Game, Exit)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Score display area (player score and dealer score)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Game result message area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Software Interfaces: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A Python 3.8 interpreter (or higher)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Tkinter GUI library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Python standard libraries (ex. Random - for card shuffling etc.)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May include a local file system for saving game stats/logs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7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8706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 Requirements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</a:t>
            </a:r>
            <a:endParaRPr/>
          </a:p>
        </p:txBody>
      </p:sp>
      <p:sp>
        <p:nvSpPr>
          <p:cNvPr id="560" name="Google Shape;560;p57"/>
          <p:cNvSpPr txBox="1">
            <a:spLocks noGrp="1"/>
          </p:cNvSpPr>
          <p:nvPr>
            <p:ph type="subTitle" idx="1"/>
          </p:nvPr>
        </p:nvSpPr>
        <p:spPr>
          <a:xfrm>
            <a:off x="4238550" y="290450"/>
            <a:ext cx="4563300" cy="439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Hardware Interfaces: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Mouse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Keyboard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Monitor/display screen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No specialized hardware equipment is necessary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Communications Interface Requirements: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application shall not require a network connection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application shall act as an offline desktop application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Thus, no email, network protocols, electronic forms, or web browsers are necessary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8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8475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Attributes </a:t>
            </a:r>
            <a:endParaRPr/>
          </a:p>
        </p:txBody>
      </p:sp>
      <p:sp>
        <p:nvSpPr>
          <p:cNvPr id="566" name="Google Shape;566;p58"/>
          <p:cNvSpPr txBox="1">
            <a:spLocks noGrp="1"/>
          </p:cNvSpPr>
          <p:nvPr>
            <p:ph type="subTitle" idx="1"/>
          </p:nvPr>
        </p:nvSpPr>
        <p:spPr>
          <a:xfrm>
            <a:off x="4231925" y="228600"/>
            <a:ext cx="4563300" cy="4551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Usability Requirements: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Users shall be able to start a game within 10 seconds.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current player total and dealer’s visible card shall always be clearly displayed.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Hit, stand, and exit buttons shall be clearly visible with static positions throughout the game.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Performance Requirements: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application shall fully load within 3 seconds.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User actions, including Hit, Stand, and Exit, shall produce a visible response within 500 milliseconds.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Game outcome shall compute and display within 500 milliseconds after final action.’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9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8475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Attributes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cont. </a:t>
            </a:r>
            <a:endParaRPr/>
          </a:p>
        </p:txBody>
      </p:sp>
      <p:sp>
        <p:nvSpPr>
          <p:cNvPr id="572" name="Google Shape;572;p59"/>
          <p:cNvSpPr txBox="1">
            <a:spLocks noGrp="1"/>
          </p:cNvSpPr>
          <p:nvPr>
            <p:ph type="subTitle" idx="1"/>
          </p:nvPr>
        </p:nvSpPr>
        <p:spPr>
          <a:xfrm>
            <a:off x="4238550" y="389671"/>
            <a:ext cx="4563300" cy="451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dk2"/>
                </a:solidFill>
              </a:rPr>
              <a:t>Security Requirements:</a:t>
            </a:r>
            <a:endParaRPr sz="1400" dirty="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 dirty="0">
                <a:solidFill>
                  <a:schemeClr val="dk2"/>
                </a:solidFill>
              </a:rPr>
              <a:t>The application shall not require user authentication.</a:t>
            </a:r>
            <a:endParaRPr sz="1400" dirty="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 dirty="0">
                <a:solidFill>
                  <a:schemeClr val="dk2"/>
                </a:solidFill>
              </a:rPr>
              <a:t>The application shall not connect to any servers.</a:t>
            </a:r>
            <a:endParaRPr sz="1400" dirty="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 dirty="0">
                <a:solidFill>
                  <a:schemeClr val="dk2"/>
                </a:solidFill>
              </a:rPr>
              <a:t>The application shall not have persistent storage and will clear data upon exit.</a:t>
            </a:r>
            <a:endParaRPr sz="14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2"/>
                </a:solidFill>
              </a:rPr>
              <a:t>Safety Requirements:</a:t>
            </a:r>
            <a:endParaRPr sz="1400" dirty="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 dirty="0">
                <a:solidFill>
                  <a:schemeClr val="dk2"/>
                </a:solidFill>
              </a:rPr>
              <a:t>The application shall prevent accidental game state loss by confirming when user presses exit to exit a game.</a:t>
            </a:r>
            <a:endParaRPr sz="1400" dirty="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 dirty="0">
                <a:solidFill>
                  <a:schemeClr val="dk2"/>
                </a:solidFill>
              </a:rPr>
              <a:t>The application shall prevent illegal gameplay actions without crashing.</a:t>
            </a:r>
            <a:endParaRPr sz="1400" dirty="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 dirty="0">
                <a:solidFill>
                  <a:schemeClr val="dk2"/>
                </a:solidFill>
              </a:rPr>
              <a:t>The application shall validate input for bets to prevent data errors.</a:t>
            </a:r>
            <a:endParaRPr sz="14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7B8FE8A-B9DE-FD88-16D0-1D0CAE2B8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9580" y="290448"/>
            <a:ext cx="4587240" cy="4350132"/>
          </a:xfrm>
        </p:spPr>
        <p:txBody>
          <a:bodyPr/>
          <a:lstStyle/>
          <a:p>
            <a:pPr marL="0" lvl="0" indent="0"/>
            <a:r>
              <a:rPr lang="en-US" dirty="0">
                <a:solidFill>
                  <a:schemeClr val="dk2"/>
                </a:solidFill>
              </a:rPr>
              <a:t>Reliability Requirements:</a:t>
            </a:r>
          </a:p>
          <a:p>
            <a:pPr lvl="0" indent="-317500">
              <a:buClr>
                <a:schemeClr val="dk2"/>
              </a:buClr>
              <a:buSzPts val="1400"/>
              <a:buChar char="●"/>
            </a:pPr>
            <a:r>
              <a:rPr lang="en-US" dirty="0">
                <a:solidFill>
                  <a:schemeClr val="dk2"/>
                </a:solidFill>
              </a:rPr>
              <a:t>The application shall operate for 4 consecutive hours without crashing.</a:t>
            </a:r>
          </a:p>
          <a:p>
            <a:pPr lvl="0" indent="-317500">
              <a:buClr>
                <a:schemeClr val="dk2"/>
              </a:buClr>
              <a:buSzPts val="1400"/>
              <a:buChar char="●"/>
            </a:pPr>
            <a:r>
              <a:rPr lang="en-US" dirty="0">
                <a:solidFill>
                  <a:schemeClr val="dk2"/>
                </a:solidFill>
              </a:rPr>
              <a:t>The system shall deal cards without duplication within a single deck cycle.</a:t>
            </a:r>
          </a:p>
          <a:p>
            <a:pPr lvl="0" indent="-317500">
              <a:buClr>
                <a:schemeClr val="dk2"/>
              </a:buClr>
              <a:buSzPts val="1400"/>
              <a:buChar char="●"/>
            </a:pPr>
            <a:r>
              <a:rPr lang="en-US" dirty="0">
                <a:solidFill>
                  <a:schemeClr val="dk2"/>
                </a:solidFill>
              </a:rPr>
              <a:t>The system shall handle fast repeated clicking and other rapid user input without crashing or having errors.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91E89F-8D71-B612-00F9-EAE246B0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90448"/>
            <a:ext cx="3655800" cy="2068228"/>
          </a:xfrm>
        </p:spPr>
        <p:txBody>
          <a:bodyPr/>
          <a:lstStyle/>
          <a:p>
            <a:r>
              <a:rPr lang="en-US" dirty="0"/>
              <a:t>Quality Attributes cont.</a:t>
            </a:r>
          </a:p>
        </p:txBody>
      </p:sp>
    </p:spTree>
    <p:extLst>
      <p:ext uri="{BB962C8B-B14F-4D97-AF65-F5344CB8AC3E}">
        <p14:creationId xmlns:p14="http://schemas.microsoft.com/office/powerpoint/2010/main" val="2199678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0"/>
          <p:cNvSpPr txBox="1">
            <a:spLocks noGrp="1"/>
          </p:cNvSpPr>
          <p:nvPr>
            <p:ph type="title"/>
          </p:nvPr>
        </p:nvSpPr>
        <p:spPr>
          <a:xfrm>
            <a:off x="228600" y="290450"/>
            <a:ext cx="38553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Localization and Other Requirements</a:t>
            </a:r>
            <a:endParaRPr/>
          </a:p>
        </p:txBody>
      </p:sp>
      <p:sp>
        <p:nvSpPr>
          <p:cNvPr id="578" name="Google Shape;578;p60"/>
          <p:cNvSpPr txBox="1">
            <a:spLocks noGrp="1"/>
          </p:cNvSpPr>
          <p:nvPr>
            <p:ph type="subTitle" idx="1"/>
          </p:nvPr>
        </p:nvSpPr>
        <p:spPr>
          <a:xfrm>
            <a:off x="4238550" y="355800"/>
            <a:ext cx="4563300" cy="4223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Localization:</a:t>
            </a:r>
            <a:endParaRPr sz="14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system shall support English (USA) by default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Text may be stored in external files for easy translation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Date and number formats shall follow individual system settings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Other Requirements may include: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system shall require a compatible Python interpreter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Third party libraries shall be documented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system shall include a welcome screen/startup interface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system shall log major runtime errors</a:t>
            </a:r>
            <a:endParaRPr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>
                <a:solidFill>
                  <a:schemeClr val="dk2"/>
                </a:solidFill>
              </a:rPr>
              <a:t>The application shall support clean startup and shutdown procedures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06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 for Blackjack application</a:t>
            </a:r>
            <a:endParaRPr/>
          </a:p>
        </p:txBody>
      </p:sp>
      <p:sp>
        <p:nvSpPr>
          <p:cNvPr id="584" name="Google Shape;584;p61"/>
          <p:cNvSpPr txBox="1">
            <a:spLocks noGrp="1"/>
          </p:cNvSpPr>
          <p:nvPr>
            <p:ph type="subTitle" idx="1"/>
          </p:nvPr>
        </p:nvSpPr>
        <p:spPr>
          <a:xfrm>
            <a:off x="4284950" y="340325"/>
            <a:ext cx="4563300" cy="421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 game of Blackjack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The goal of Blackjack is to reach 21 without exceeding that number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Hit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Request another card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Stand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End the player’s turn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Bust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Score exceeds 21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Push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A tie game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GUI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Graphical User Interface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Python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High-level interpreted programming lang.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Interpreter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Program that executes Python code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236A4E-902E-20F8-0780-6AC6BFFA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90448"/>
            <a:ext cx="3655800" cy="2696092"/>
          </a:xfrm>
        </p:spPr>
        <p:txBody>
          <a:bodyPr/>
          <a:lstStyle/>
          <a:p>
            <a:r>
              <a:rPr lang="en-US" dirty="0"/>
              <a:t>Thank you for your interest in our game!</a:t>
            </a:r>
          </a:p>
        </p:txBody>
      </p:sp>
    </p:spTree>
    <p:extLst>
      <p:ext uri="{BB962C8B-B14F-4D97-AF65-F5344CB8AC3E}">
        <p14:creationId xmlns:p14="http://schemas.microsoft.com/office/powerpoint/2010/main" val="215228365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1343</Words>
  <Application>Microsoft Office PowerPoint</Application>
  <PresentationFormat>On-screen Show (16:9)</PresentationFormat>
  <Paragraphs>229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Urbanist</vt:lpstr>
      <vt:lpstr>Urbanist Medium</vt:lpstr>
      <vt:lpstr>Urbanist SemiBold</vt:lpstr>
      <vt:lpstr>Arial</vt:lpstr>
      <vt:lpstr>Dark Particles</vt:lpstr>
      <vt:lpstr>A Blackjack Game A project by</vt:lpstr>
      <vt:lpstr>Content</vt:lpstr>
      <vt:lpstr>Introduction:The Overall Outlook</vt:lpstr>
      <vt:lpstr>Operating Context</vt:lpstr>
      <vt:lpstr>Operating Context cont.</vt:lpstr>
      <vt:lpstr>Operating Context cont.</vt:lpstr>
      <vt:lpstr>Operating Context cont.</vt:lpstr>
      <vt:lpstr>System Features  Player Card Randomization</vt:lpstr>
      <vt:lpstr>System Features   Player Bets and ROI</vt:lpstr>
      <vt:lpstr>System Features  Number of Players and Player Names</vt:lpstr>
      <vt:lpstr>System Features  Hit or Stand</vt:lpstr>
      <vt:lpstr>System Features  Play Again?</vt:lpstr>
      <vt:lpstr>Data Requirements </vt:lpstr>
      <vt:lpstr>Data Requirements</vt:lpstr>
      <vt:lpstr>Data Requirements</vt:lpstr>
      <vt:lpstr>Interface Requirements</vt:lpstr>
      <vt:lpstr>Interface Requirements cont.</vt:lpstr>
      <vt:lpstr>Quality Attributes </vt:lpstr>
      <vt:lpstr>Quality Attributes cont. </vt:lpstr>
      <vt:lpstr>Quality Attributes cont.</vt:lpstr>
      <vt:lpstr>Localization and Other Requirements</vt:lpstr>
      <vt:lpstr>Glossary for Blackjack application</vt:lpstr>
      <vt:lpstr>Thank you for your interest in our game!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Portillo, Hannah</cp:lastModifiedBy>
  <cp:revision>3</cp:revision>
  <dcterms:modified xsi:type="dcterms:W3CDTF">2026-02-19T16:05:38Z</dcterms:modified>
</cp:coreProperties>
</file>